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a27dd2e03b34f19" Type="http://schemas.openxmlformats.org/package/2006/relationships/metadata/core-properties" Target="docProps/core.xml"/><Relationship Id="R7ca21351f2554abe" Type="http://schemas.openxmlformats.org/officeDocument/2006/relationships/officeDocument" Target="ppt/presentation.xml"/><Relationship Id="Rbc4f051d02ad4d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692492da974270"/>
  </p:sldMasterIdLst>
  <p:notesMasterIdLst>
    <p:notesMasterId xmlns:r="http://schemas.openxmlformats.org/officeDocument/2006/relationships" r:id="Rd561fa2afd48491f"/>
  </p:notesMasterIdLst>
  <p:sldIdLst>
    <p:sldId xmlns:r="http://schemas.openxmlformats.org/officeDocument/2006/relationships" id="256" r:id="R19cae1334dad4ac1"/>
    <p:sldId xmlns:r="http://schemas.openxmlformats.org/officeDocument/2006/relationships" id="257" r:id="R52170a5e06bb461c"/>
    <p:sldId xmlns:r="http://schemas.openxmlformats.org/officeDocument/2006/relationships" id="258" r:id="Reccb0544f0d64e11"/>
    <p:sldId xmlns:r="http://schemas.openxmlformats.org/officeDocument/2006/relationships" id="259" r:id="R3053d6ea3fae4f43"/>
    <p:sldId xmlns:r="http://schemas.openxmlformats.org/officeDocument/2006/relationships" id="260" r:id="R1c7527e2377148f6"/>
    <p:sldId xmlns:r="http://schemas.openxmlformats.org/officeDocument/2006/relationships" id="261" r:id="R306760f3dae2463c"/>
    <p:sldId xmlns:r="http://schemas.openxmlformats.org/officeDocument/2006/relationships" id="262" r:id="Re6fa2db194ae4caa"/>
    <p:sldId xmlns:r="http://schemas.openxmlformats.org/officeDocument/2006/relationships" id="263" r:id="Rcfc6f91d07974c8b"/>
    <p:sldId xmlns:r="http://schemas.openxmlformats.org/officeDocument/2006/relationships" id="264" r:id="R7e10c48c715a4165"/>
    <p:sldId xmlns:r="http://schemas.openxmlformats.org/officeDocument/2006/relationships" id="265" r:id="R7664ab1a737c4f02"/>
    <p:sldId xmlns:r="http://schemas.openxmlformats.org/officeDocument/2006/relationships" id="266" r:id="Rbbbd5e373beb4a55"/>
    <p:sldId xmlns:r="http://schemas.openxmlformats.org/officeDocument/2006/relationships" id="267" r:id="R4dddab4a1582499e"/>
    <p:sldId xmlns:r="http://schemas.openxmlformats.org/officeDocument/2006/relationships" id="268" r:id="Rac9f553c98964357"/>
    <p:sldId xmlns:r="http://schemas.openxmlformats.org/officeDocument/2006/relationships" id="269" r:id="R0622752846d14d78"/>
    <p:sldId xmlns:r="http://schemas.openxmlformats.org/officeDocument/2006/relationships" id="270" r:id="R6e1b9ff80d274a93"/>
    <p:sldId xmlns:r="http://schemas.openxmlformats.org/officeDocument/2006/relationships" id="271" r:id="R9cad2f4e51224e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075c84b7c9456e" Type="http://schemas.openxmlformats.org/officeDocument/2006/relationships/theme" Target="theme/theme1.xml"/><Relationship Id="R0622752846d14d78" Type="http://schemas.openxmlformats.org/officeDocument/2006/relationships/slide" Target="slides/slide14.xml"/><Relationship Id="R19cae1334dad4ac1" Type="http://schemas.openxmlformats.org/officeDocument/2006/relationships/slide" Target="slides/slide1.xml"/><Relationship Id="R1c7527e2377148f6" Type="http://schemas.openxmlformats.org/officeDocument/2006/relationships/slide" Target="slides/slide5.xml"/><Relationship Id="R1e1d961bafcb49ab" Type="http://schemas.openxmlformats.org/officeDocument/2006/relationships/presProps" Target="presProps.xml"/><Relationship Id="R28c5dcf040ba4029" Type="http://schemas.openxmlformats.org/officeDocument/2006/relationships/tableStyles" Target="tableStyles.xml"/><Relationship Id="R3053d6ea3fae4f43" Type="http://schemas.openxmlformats.org/officeDocument/2006/relationships/slide" Target="slides/slide4.xml"/><Relationship Id="R306760f3dae2463c" Type="http://schemas.openxmlformats.org/officeDocument/2006/relationships/slide" Target="slides/slide6.xml"/><Relationship Id="R4b692492da974270" Type="http://schemas.openxmlformats.org/officeDocument/2006/relationships/slideMaster" Target="slideMasters/slideMaster1.xml"/><Relationship Id="R4dddab4a1582499e" Type="http://schemas.openxmlformats.org/officeDocument/2006/relationships/slide" Target="slides/slide12.xml"/><Relationship Id="R52170a5e06bb461c" Type="http://schemas.openxmlformats.org/officeDocument/2006/relationships/slide" Target="slides/slide2.xml"/><Relationship Id="R6e1b9ff80d274a93" Type="http://schemas.openxmlformats.org/officeDocument/2006/relationships/slide" Target="slides/slide15.xml"/><Relationship Id="R7664ab1a737c4f02" Type="http://schemas.openxmlformats.org/officeDocument/2006/relationships/slide" Target="slides/slide10.xml"/><Relationship Id="R7e10c48c715a4165" Type="http://schemas.openxmlformats.org/officeDocument/2006/relationships/slide" Target="slides/slide9.xml"/><Relationship Id="R9cad2f4e51224e6b" Type="http://schemas.openxmlformats.org/officeDocument/2006/relationships/slide" Target="slides/slide16.xml"/><Relationship Id="Rac9f553c98964357" Type="http://schemas.openxmlformats.org/officeDocument/2006/relationships/slide" Target="slides/slide13.xml"/><Relationship Id="Rbbbd5e373beb4a55" Type="http://schemas.openxmlformats.org/officeDocument/2006/relationships/slide" Target="slides/slide11.xml"/><Relationship Id="Rcfc6f91d07974c8b" Type="http://schemas.openxmlformats.org/officeDocument/2006/relationships/slide" Target="slides/slide8.xml"/><Relationship Id="Rd561fa2afd48491f" Type="http://schemas.openxmlformats.org/officeDocument/2006/relationships/notesMaster" Target="notesMasters/notesMaster1.xml"/><Relationship Id="Re6fa2db194ae4caa" Type="http://schemas.openxmlformats.org/officeDocument/2006/relationships/slide" Target="slides/slide7.xml"/><Relationship Id="Reccb0544f0d64e11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c4c46da30bee433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867070ba16c4d25" Type="http://schemas.openxmlformats.org/officeDocument/2006/relationships/notesMaster" Target="../notesMasters/notesMaster1.xml"/><Relationship Id="R1461992622b149f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a380606abc104234" Type="http://schemas.openxmlformats.org/officeDocument/2006/relationships/slide" Target="../slides/slide2.xml"/><Relationship Id="Rdc1eed99f4264b1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f1cbe9de9ff4128" Type="http://schemas.openxmlformats.org/officeDocument/2006/relationships/slide" Target="../slides/slide3.xml"/><Relationship Id="Rf175879ab5c443c9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8c9f87d486de4582" Type="http://schemas.openxmlformats.org/officeDocument/2006/relationships/notesMaster" Target="../notesMasters/notesMaster1.xml"/><Relationship Id="Rd83a3c10170f41f4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0424d16d276445c" Type="http://schemas.openxmlformats.org/officeDocument/2006/relationships/slide" Target="../slides/slide5.xml"/><Relationship Id="Rff262d6115aa45f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d8273610b754fc9" Type="http://schemas.openxmlformats.org/officeDocument/2006/relationships/slide" Target="../slides/slide6.xml"/><Relationship Id="Rdfc1bce6c0774d3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426c0f382f2c4fdc" Type="http://schemas.openxmlformats.org/officeDocument/2006/relationships/notesMaster" Target="../notesMasters/notesMaster1.xml"/><Relationship Id="R5bedf36d5a244058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c6e8a2bb7464790" Type="http://schemas.openxmlformats.org/officeDocument/2006/relationships/notesMaster" Target="../notesMasters/notesMaster1.xml"/><Relationship Id="R709abd20a98344c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219c1beaf6f64b7e" Type="http://schemas.openxmlformats.org/officeDocument/2006/relationships/notesMaster" Target="../notesMasters/notesMaster1.xml"/><Relationship Id="Rbe642b1baf81415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255036ff8444e68" Type="http://schemas.openxmlformats.org/officeDocument/2006/relationships/notesMaster" Target="../notesMasters/notesMaster1.xml"/><Relationship Id="R66fca59b17154d8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0d1ebb8fdf294f95" Type="http://schemas.openxmlformats.org/officeDocument/2006/relationships/notesMaster" Target="../notesMasters/notesMaster1.xml"/><Relationship Id="Rb87fde7248a14db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c73fd6836714155" Type="http://schemas.openxmlformats.org/officeDocument/2006/relationships/notesMaster" Target="../notesMasters/notesMaster1.xml"/><Relationship Id="Re5296184b6b94b7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1621036809d4505" Type="http://schemas.openxmlformats.org/officeDocument/2006/relationships/notesMaster" Target="../notesMasters/notesMaster1.xml"/><Relationship Id="Re2973949822b40f9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6b1f4b9241b544f2" Type="http://schemas.openxmlformats.org/officeDocument/2006/relationships/slide" Target="../slides/slide14.xml"/><Relationship Id="Rf032c8b9597e4493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5f0b4f652b834042" Type="http://schemas.openxmlformats.org/officeDocument/2006/relationships/notesMaster" Target="../notesMasters/notesMaster1.xml"/><Relationship Id="Ra1e79c89bf4c419b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685f5a7dc9d64ae8" Type="http://schemas.openxmlformats.org/officeDocument/2006/relationships/slide" Target="../slides/slide16.xml"/><Relationship Id="R8bef0faa2fbf48a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Arthur: Introduce team, project title, and the goal: predicting 30-day readmission as a risk-ranking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Arthur: Walk through the structure and mention that it follows the assignment: problem, data, methodology, results, demo, and conclusion.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Arthur: Readmission is stressful and expensive. The practical use is prioritizing follow-up resources, not automatic clinical decision-making.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Arthur: Explain that the dataset is public and accepted by the assignment. Define readmitted_30 exactly.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Arthur: The two key data problems are imbalance and concentrated missingness. This motivates PR-AUC and careful preprocessing.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Mohamed: Emphasize leakage control. We split by patient ID and only used patient history from earlier encounters.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Mohamed: Make this concrete. Diagnosis codes were grouped, missing categories kept, medication and utilization summaries created, and prior patient history added safely.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Mohamed: Accuracy is misleading. The majority baseline has high accuracy but catches zero readmissions. PR-AUC is the primary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Mohamed: We tried many families, but CatBoost won because the dataset is categorical, sparse, and tabular.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Mohamed: CatBoost led validation PR-AUC. Neural networks and resampling did not beat boosted trees.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Omar: Present the final held-out test metrics. Clarify that accuracy is not the headline metric.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Omar: This is the practical interpretation. Top-risk patients have much higher readmission rates than the overall population.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Omar: The best improvements came from data framing and patient-history features, not from bigger models alone.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Omar: Defend the mid-level performance. The target depends on many post-discharge factors missing from the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Omar: Show the professor exactly how the project can be run and how the optional patient input demo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Omar: Close with the honest claim: useful risk ranking, not perfect prediction. Invite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7a751f0fad842a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795832ccaffa40e7" Type="http://schemas.openxmlformats.org/officeDocument/2006/relationships/slideLayout" Target="../slideLayouts/slideLayout1.xml"/><Relationship Id="Rad937c4847754103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5832ccaffa40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2252332e6754d23" Type="http://schemas.openxmlformats.org/officeDocument/2006/relationships/slideLayout" Target="../slideLayouts/slideLayout1.xml"/><Relationship Id="Re3afab064f5046e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111036d4ebf4300" Type="http://schemas.openxmlformats.org/officeDocument/2006/relationships/notesSlide" Target="../notesSlides/notesSlide2.xml"/><Relationship Id="R87be5c2a6217416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c33d7d8bf41e4281" Type="http://schemas.openxmlformats.org/officeDocument/2006/relationships/notesSlide" Target="../notesSlides/notesSlide3.xml"/><Relationship Id="Re572cf1371374f7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1f5977ba076a4d98" Type="http://schemas.openxmlformats.org/officeDocument/2006/relationships/notesSlide" Target="../notesSlides/notesSlide4.xml"/><Relationship Id="Rf63bd3ac405744bd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0cb1fc5164be41f3" Type="http://schemas.openxmlformats.org/officeDocument/2006/relationships/slideLayout" Target="../slideLayouts/slideLayout1.xml"/><Relationship Id="R68b8dad0eef64fb4" Type="http://schemas.openxmlformats.org/officeDocument/2006/relationships/image" Target="../media/image2.png"/><Relationship Id="R816021288b91481f" Type="http://schemas.openxmlformats.org/officeDocument/2006/relationships/image" Target="../media/image.png"/><Relationship Id="R998ef7fbe41141c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96b71d497dac4bfb" Type="http://schemas.openxmlformats.org/officeDocument/2006/relationships/notesSlide" Target="../notesSlides/notesSlide6.xml"/><Relationship Id="Rc801a0692372452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0ed207ba8665426a" Type="http://schemas.openxmlformats.org/officeDocument/2006/relationships/notesSlide" Target="../notesSlides/notesSlide7.xml"/><Relationship Id="Ref6684b7e90141fb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00ef2c05230d42c3" Type="http://schemas.openxmlformats.org/officeDocument/2006/relationships/notesSlide" Target="../notesSlides/notesSlide8.xml"/><Relationship Id="Rdc64f63f52164eeb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5a1585475f5441f" Type="http://schemas.openxmlformats.org/officeDocument/2006/relationships/notesSlide" Target="../notesSlides/notesSlide9.xml"/><Relationship Id="R68f7e9a2020a4bbe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0cb3ebeff2af49b1" Type="http://schemas.openxmlformats.org/officeDocument/2006/relationships/slideLayout" Target="../slideLayouts/slideLayout1.xml"/><Relationship Id="R4f1810faf7db46b4" Type="http://schemas.openxmlformats.org/officeDocument/2006/relationships/notesSlide" Target="../notesSlides/notesSlide10.xml"/><Relationship Id="Rdb35fd94dbb7410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13776a646bc34667" Type="http://schemas.openxmlformats.org/officeDocument/2006/relationships/slideLayout" Target="../slideLayouts/slideLayout1.xml"/><Relationship Id="R985ebb96506b449c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95a25da78f574025" Type="http://schemas.openxmlformats.org/officeDocument/2006/relationships/slideLayout" Target="../slideLayouts/slideLayout1.xml"/><Relationship Id="Rb72a7681dcb84e47" Type="http://schemas.openxmlformats.org/officeDocument/2006/relationships/notesSlide" Target="../notesSlides/notesSlide12.xml"/><Relationship Id="Rf984248bd5084770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55f35c604970471c" Type="http://schemas.openxmlformats.org/officeDocument/2006/relationships/notesSlide" Target="../notesSlides/notesSlide13.xml"/><Relationship Id="R6b2452b0333245f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25d6204134a64773" Type="http://schemas.openxmlformats.org/officeDocument/2006/relationships/notesSlide" Target="../notesSlides/notesSlide14.xml"/><Relationship Id="Refa16b4863a44fa7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b148f69e39d6498c" Type="http://schemas.openxmlformats.org/officeDocument/2006/relationships/notesSlide" Target="../notesSlides/notesSlide15.xml"/><Relationship Id="Rb27717078f3f43e0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987cb655f21447e3" Type="http://schemas.openxmlformats.org/officeDocument/2006/relationships/slideLayout" Target="../slideLayouts/slideLayout1.xml"/><Relationship Id="R98831be99fbb40c0" Type="http://schemas.openxmlformats.org/officeDocument/2006/relationships/notesSlide" Target="../notesSlides/notesSlide16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3BEF34-9415-4DBD-A316-EBCBEA17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C0124-02D9-4A82-BB92-4771F824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723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Hospital Readmission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CFBD29-51A5-4985-B67D-D74257C5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5745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Patient-safe risk ranking for 30-day diabetic readmission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B70E9-B68F-406D-8674-9395910C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0FDFA-AD69-4CBA-98B0-5E2BC5EE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0.2414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BC1BD-503C-4546-8A54-9E7DE158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Final test PR-AUC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04B84-EECB-4AE8-ABB5-93EF95DD2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9052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BA76D-E3C0-45FD-9802-8BDFC504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2.19x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76DF81-6E2C-4FE8-8F61-A343CAECF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482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Over PR-AUC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6F5E0D-1133-49AD-A7EF-92CF224C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0"/>
            <a:ext cx="24003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F787A6-1E59-45D9-A835-92300592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36.2%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210C4-8ED2-4CC1-B873-84745631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4820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Recall at validation threshold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9FC74B-4A45-4A3B-8317-94B55B09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914400"/>
            <a:ext cx="2857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3405C-3FBD-4EA7-82F0-383FA15F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95400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Readmission Risk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D8DCD-C61B-485D-84E7-580D0CB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2479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Arthur Leontev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Mohamed Hamdan</a:t>
            </a:r>
          </a:p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Omar Ibrahim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4C8F4-3532-4632-8C9D-3B64FE66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2247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Dataset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UCI Diabetes 130-US Hospitals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16831-34E6-449A-8C1A-BD86A8C2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38543-3AA2-4AEA-AC96-D61948F2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860299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E7C189-BFE5-4058-A19B-581ACC00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44B80-C827-4FC5-9C83-D655F1D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Presentation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A2321-9504-4238-AFA8-78769499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38E32-AD42-40DC-91A2-DB0B85C9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C3FF9-C6C0-48A9-9026-5F8A7F95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2E"/>
                </a:solidFill>
              </a:defRPr>
            </a:pPr>
            <a:r>
              <a:rPr sz="1800" b="1">
                <a:solidFill>
                  <a:srgbClr val="B85C2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B2A22A-6E76-4045-9CDB-1EC78C59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764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Problem &amp; motivation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1FB7F-56D3-4E2E-B96B-28C7A7E0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050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Why readmission prediction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C1485-FB95-46CF-BFFB-171EDA7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DFB5B-5BDD-47AF-ABE2-F292F837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2E"/>
                </a:solidFill>
              </a:defRPr>
            </a:pPr>
            <a:r>
              <a:rPr sz="1800" b="1">
                <a:solidFill>
                  <a:srgbClr val="B85C2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19156-5341-49A6-B5C1-15575BD4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574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Data collection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FF7FD5-2AC2-456D-AFEF-D4AA1CD9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UCI Diabetes 130-US Hospitals dataset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F80E5-48EA-429E-8923-38600FE0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247EA-2FB3-4466-90A2-37FC618A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2E"/>
                </a:solidFill>
              </a:defRPr>
            </a:pPr>
            <a:r>
              <a:rPr sz="1800" b="1">
                <a:solidFill>
                  <a:srgbClr val="B85C2E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182CDF-262F-471C-A309-6C36721F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38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Methodology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B5806-515F-4D8B-9AE7-AA0DC710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671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Preprocessing, feature engineering, metrics, 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62F2D-45E6-4E6D-891D-2D5FB13C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B039F-F084-4D05-AB7E-FA6908F2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2E"/>
                </a:solidFill>
              </a:defRPr>
            </a:pPr>
            <a:r>
              <a:rPr sz="1800" b="1">
                <a:solidFill>
                  <a:srgbClr val="B85C2E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358FF7-D4B9-4844-AB51-EB450E70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219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Results &amp; insights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9B83D-7083-44F9-A0BA-FC1FA7B1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Final performance, risk ranking, limitations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D4F7EC-50DB-4D48-BA62-CA704804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066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147B82-33EE-4113-B2E8-9A7E7767F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5C2E"/>
                </a:solidFill>
              </a:defRPr>
            </a:pPr>
            <a:r>
              <a:rPr sz="1800" b="1">
                <a:solidFill>
                  <a:srgbClr val="B85C2E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EA813-63B6-4B0A-A8CD-D9BFFD9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00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Demo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1B798F-DE04-4C2A-836F-472F50709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2920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Manual patient prediction using the final pipeline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8A981-1688-4299-937F-CF06AD2F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39BDC-CF58-4122-B0BE-FC1013E3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673105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962CE4-BEB0-4397-B2A8-9162F0DD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A93DB7-51C8-4D82-80DA-BE89F8C4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Problem &amp; Motivation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57FDB-9BC0-4F36-98D1-0E2B261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F61E-193F-465C-9F5D-3AEF2FFA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478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E27AB-69FA-4E33-AF07-151D19A2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4476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Predict whether a diabetic hospital encounter will be followed by readmission within 30 days.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66E64-46B8-42F7-849E-A592AD09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49149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A3BEFC-E56E-40E7-8680-C1F28C0C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52650"/>
            <a:ext cx="43338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Hospitals can focus follow-up calls and appointment reminders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Care teams can prioritize medication review or case-manager attention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The model should rank risk, not replace clinical judgment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99DFD-B090-45C4-BE0D-4ABF97EE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2400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0FB35-45F4-402F-86A9-B74238B2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1 in 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830A8A-24DB-487F-BCBD-4BB44D0D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eligible encounters are positive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E5BCE-99E3-4A69-83FD-213655CE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62400"/>
            <a:ext cx="2400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25E08-12B5-45E6-A725-1F9FEB3E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71950"/>
            <a:ext cx="2019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C431D-E254-4CB7-9DBD-D7FB67C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05350"/>
            <a:ext cx="201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short-term readmission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20B0B-A982-4D7B-A5DC-75433568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EB88E-568C-4E96-AAF6-1F3016B9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924944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5E8C83-0E28-4C46-917A-280ACA7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E4953-B461-490B-BC34-3D8602F8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Data Source and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2D9408-156A-4B02-BC83-C7CF7199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D3C85-1D49-4177-B118-CC1B9773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8667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53BD9-D377-440A-A385-91B366E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1BAF0-683B-4B74-8B0A-2E0CB2D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EFBA4-CDC0-412D-BF9D-A30791FF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E722B-48BE-4CE2-AD4F-FA788B3B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1AC10-A379-4D8E-88AB-CD823EB2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050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AA7E22-D8A9-4EFC-B051-CFC733272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002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Patients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8D3D3-D17C-463E-9DA3-1CEECA72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050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0C05D-839F-4131-B3C7-478F1A3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Positive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07CFBC-0049-44E0-ABE3-79CAC951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CFEB8B-85BA-442D-B667-16846CF9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Raw UCI file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90D47-FA39-464B-B925-DD9F07C7B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193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8C5C82-E98E-4916-9278-AD8603D2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146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101,766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8A9D7E-D2D4-4A77-B7E4-5D1EAC3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193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11F45-684C-4D84-98CC-1459CA55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146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71,518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B7A3C-78D1-4900-A019-4F3470D9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193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77110A-2EF4-4E31-AA4C-6DE912633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146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11.16%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CF43B0-F091-4710-9D7F-0983DA00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337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5DFF40-4025-434C-BCCA-47D56545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Eligible after removal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CA712A-18D0-4A87-89FF-602C10B4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337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37CA8C-8DBB-4916-B40D-AC05E7CE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99,343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61ADF5-E248-4993-A6FD-8500C046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337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1A425-9986-44BB-A805-F283199C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69,990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3C49FC-DF89-43DA-B67D-4817990A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9337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1B4E87-6FCD-49CA-A2E5-9ACFCCC5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2895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11.39%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658DF3-6353-475B-8801-BD4ED513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4F719-4211-49B2-9589-23B46636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First encounter 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C862A-D5DF-4C19-91DF-7AB64CD1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480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1A5609-C273-42E8-BE6F-BE7DF3BA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433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69,990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5792A2-ED2C-4B3B-A682-CC6349C5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4480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6F8BA4-C8CD-4AC3-B057-B175A60B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43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69,990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50A00A-52C4-4760-A5A3-B69177BF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480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6A5B70-B04D-4F77-BB1B-334F5E7D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43300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8.98%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41CB47-47FB-48DF-A2E8-C75B3122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905000"/>
            <a:ext cx="180975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1EAB23-85B2-4C52-B64F-B96508A5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1526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Target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AB411F-41C5-430C-8AD4-5427D3F6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67000"/>
            <a:ext cx="13525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readmitted_30 = 1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if readmitted == &lt;30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else 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BD65B5-A3CE-41EC-A7B5-B50491D6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838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Raw data downloaded from UCI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Hospice and expired discharges removed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• Target and IDs removed from model inputs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4F9F94-A048-4AD7-957D-AF0C8EE5C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A17835-E33C-4CD5-9221-E74B050D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0440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4A547-73CB-46FC-A3E7-C055E0BC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99A768-8708-4D2C-9DA0-CC8A2ADA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EDA: Why This Is Hard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3DCEC4-104A-4528-B015-182C6D4C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52EDE-B888-4872-A93B-784A6FD6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37DC5-7B62-46A0-A965-FE8DB128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35B8B-2E31-4398-B16B-220D5223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49149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021288b91481f"/>
          <a:stretch xmlns:a="http://schemas.openxmlformats.org/drawingml/2006/main"/>
        </p:blipFill>
        <p:spPr>
          <a:xfrm xmlns:a="http://schemas.openxmlformats.org/drawingml/2006/main">
            <a:off x="781050" y="1809750"/>
            <a:ext cx="4419600" cy="3048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9A224-2FB6-4A5D-94EC-F6450C0C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33550"/>
            <a:ext cx="49149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8dad0eef64fb4"/>
          <a:stretch xmlns:a="http://schemas.openxmlformats.org/drawingml/2006/main"/>
        </p:blipFill>
        <p:spPr>
          <a:xfrm xmlns:a="http://schemas.openxmlformats.org/drawingml/2006/main">
            <a:off x="6115050" y="1911615"/>
            <a:ext cx="4762500" cy="284427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79956-1A19-4385-8EBA-32B4CA72A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Only about 11% are positive; weight, payer code, and specialty have concentrated missingness.</a:t>
            </a:r>
          </a:p>
        </p:txBody>
      </p:sp>
    </p:spTree>
    <p:extLst>
      <p:ext uri="{BB962C8B-B14F-4D97-AF65-F5344CB8AC3E}">
        <p14:creationId xmlns:p14="http://schemas.microsoft.com/office/powerpoint/2010/main" val="10688904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E7D1C6-DBCA-4C57-BA2B-11BFF03C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C444C-9600-44B2-8C48-1A48A8E3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Preprocessing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42B2E-C984-444F-B1FF-951CFF7B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76F8E0-B2C3-4593-A57A-9856D632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124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A15ED-2306-4067-B730-183B931D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C2E"/>
                </a:solidFill>
              </a:defRPr>
            </a:pPr>
            <a:r>
              <a:rPr sz="1875" b="1">
                <a:solidFill>
                  <a:srgbClr val="B85C2E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14ECD-86BD-45FC-8227-1E969B1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95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Load raw UCI CSV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09954-ED0E-420C-8106-BB4A56B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05000"/>
            <a:ext cx="3124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9B98A-4F61-40AA-95F4-24AC5C65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0764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C2E"/>
                </a:solidFill>
              </a:defRPr>
            </a:pPr>
            <a:r>
              <a:rPr sz="1875" b="1">
                <a:solidFill>
                  <a:srgbClr val="B85C2E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3176A-7974-45FE-BA0C-96E36899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95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Create readmitted_30 target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3623A-E8F4-4A2C-9C0C-EE66799A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05000"/>
            <a:ext cx="3124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B59AD-F26E-4F1D-8C6D-15295294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C2E"/>
                </a:solidFill>
              </a:defRPr>
            </a:pPr>
            <a:r>
              <a:rPr sz="1875" b="1">
                <a:solidFill>
                  <a:srgbClr val="B85C2E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B3CDA-7739-40CA-9147-3490023F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9550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Remove hospice/expired discharges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6531A-F834-4A1B-8D27-44E3F06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124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2E986C-75E5-4B52-91D7-CD9541D9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C2E"/>
                </a:solidFill>
              </a:defRPr>
            </a:pPr>
            <a:r>
              <a:rPr sz="1875" b="1">
                <a:solidFill>
                  <a:srgbClr val="B85C2E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90A2B0-EE73-4923-83D8-214221BE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76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Split by patient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EDD78-1C67-4825-9056-F9C460E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486150"/>
            <a:ext cx="3124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D969C8-B203-4478-B442-35139373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57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C2E"/>
                </a:solidFill>
              </a:defRPr>
            </a:pPr>
            <a:r>
              <a:rPr sz="1875" b="1">
                <a:solidFill>
                  <a:srgbClr val="B85C2E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42111-5B87-4CCF-A23E-40CC2207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76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Build final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BB7FA9-1606-43E4-B33A-D18EB1C2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86150"/>
            <a:ext cx="31242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6AAB2-517C-44F7-9A83-645B388F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57600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5C2E"/>
                </a:solidFill>
              </a:defRPr>
            </a:pPr>
            <a:r>
              <a:rPr sz="1875" b="1">
                <a:solidFill>
                  <a:srgbClr val="B85C2E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4D3C70-076F-423A-9583-2798781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676650"/>
            <a:ext cx="1952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Train CatBoost and evaluate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32D216-1B52-402A-834F-B9BD192C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Key rule: the same patient never appears in more than one split.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8C08AD-80B9-4BE6-A0D3-D7584859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56ED7-94A5-4A84-8507-06AEEDD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9642764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74DC43-61A2-4ECC-9771-B65DE575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6AF21-F2A2-4A1A-B63A-32248641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Feature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CA177-6129-4418-8359-7BF2978F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F057C-E466-40F4-AEC0-3ABA8393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0965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11554-F2E9-4CF2-BCCC-FD22FB90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4182E-A81B-437D-BACF-FFE5F301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05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Feature family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43924-2A9A-47D0-841D-3566D3B5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097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42AC18-7AD7-48A0-A53E-5A959843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050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What it adds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1F7C5-B498-4C91-ACDA-CCCF403C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50012-7FF9-4771-BD79-4ED5CCB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384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Diagnosis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EF576-559D-49DC-A169-F66F9714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FE3454-EC27-4CA6-BF13-182908F9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38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ICD-9 groups, diagnosis detail, comorbidity-style indicators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F03069-3247-49C5-ACDB-94269939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9DC70-3B20-4366-9231-4E760C73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Medication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848DB8-7E67-43CD-B0EE-42FE7BF9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8765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0ED923-1EBC-428B-B5CF-3D1BBEFF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718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Medication burden, changes, insulin and class-level indicators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BE9B9-C238-4965-9E2B-14EB9D95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41ED0-6866-493C-9B87-C6355F3D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052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Utilization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31047-F390-462B-9780-440B590C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99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B4A1B-2A93-4C0A-AC11-D4AB1C02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052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Prior inpatient, emergency, outpatient counts plus log summaries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AC351-63E3-452F-9466-5E7D0F08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931E3A-2280-48FC-8143-1FF67B3E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86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Labs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A10762-668B-447F-8A3B-6AC2FF22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D9F38-D186-47B5-BE32-73652C96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386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A1C and glucose status, keeping None as a real category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7BF837-C001-4B1D-A7C1-AD35699B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286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EAC80-15DD-4A59-9552-F0116A7D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Patient history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1FF33A-29DF-4A1F-ABBA-0A3851FF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76750"/>
            <a:ext cx="781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93359F-DEA2-46B6-A557-69F2075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Prior readmission and prior utilization from earlier visits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DD5DA-2365-4A0A-AAAB-0302321A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456E0-4FC6-4718-96D4-BB928E2E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38705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49C60-FD26-40CB-8EE1-CE5037F1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B6032-7B65-4099-8835-0D75FB2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Evaluation 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35E62-A8E3-4157-8767-993E0B2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8A554-7021-4BDF-802C-A7260975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714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7C8FE-41C5-450E-9FA9-384FCAEA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0.1103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D09F8-1F43-4641-AE61-556EDD8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natural PR-AUC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B48BE-04D7-4547-8004-63B1EB6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038350"/>
            <a:ext cx="2714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612FC2-D91F-464B-97B3-CC1B9608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47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39625-985D-4EDE-8555-03AE4137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781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recall for majority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3D644-D4D8-40DD-890D-49DF2068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38350"/>
            <a:ext cx="2714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227D7-B9A2-495A-BA6E-0C3BF09E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479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0.2414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3A66F-787B-49BB-A993-6364125F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final test PR-AUC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FB8EF-B90F-4876-9F8E-EF1A7833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Why PR-AUC?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D7060-6D04-41E7-90CF-30D867E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9525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Focuses on the rare positive class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Matches the risk-ranking use case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Shows whether true readmissions receive high scores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Reported with ROC-AUC, recall, precision, F1, accuracy, and confusion matrix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613EE-5E08-4DA3-AE03-8B53EB16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D6F901-F728-4CAC-B1E7-555B62F9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448662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12C4CF-4F57-424C-9AAA-89F01F83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7F304-33D5-456A-A9F3-5A195345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Models Explored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183877-F100-4C56-AE40-89E4DFA2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3C3D25-5F90-4D09-A42F-27DF9001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7B9EA3-60D7-4812-A41B-538F3F84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Baselines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E9B0-33AA-4F88-B1E1-807A8EF5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95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Majority class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Logistic Regression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Naive Bayes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666C5-BA93-4671-B520-8B9BCA86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431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57AD45-76D0-44D6-8E4E-7A2BECBA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09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Tree ensembles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E8403-BF9D-4AE6-B6E3-D01D2314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195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Decision Tree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Random Forest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Extra Trees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Gradient Boosting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8C176-BA38-4E25-A09C-F91E6B29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56120-B206-49A4-9F36-2FAF129C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09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Advanced boosting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C2C3F-2B29-4390-83B7-8DA65C80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195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XGBoost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LightGBM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CatBoost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Optuna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8DFD88-4077-42EA-A29E-FAF813A5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43100"/>
            <a:ext cx="2381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63FAB-6435-4856-BC10-EC81FF37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Extra attempts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D9B9B-0DFA-4F02-8924-F6DC1E75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00350"/>
            <a:ext cx="1952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Neural networks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Imbalance methods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Score/rank ensembles</a:t>
            </a:r>
          </a:p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Seed sweeps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6F0E3-A2DD-4568-B160-AB71A805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Final choice: CatBoost with native categorical handling, patient-history features, and validation-selected threshold.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E9DDAC-1F9C-439C-A59D-2357C0E8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367E6-218C-405B-83D9-273E3F19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677707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76A0C6-3FC7-423E-B6F6-EFDAFB79A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DA65C-BFCF-4C78-9FFB-3BFC4CC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Validation Model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FA4C9-F784-4B66-B8C8-4CA828D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76CDB-28B1-4290-8CB8-56BB226C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15B354-F99B-42ED-ADB0-81ADA86D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02E77E-AAE4-40C1-BCFF-6599FA5C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76400"/>
            <a:ext cx="662940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5fd94dbb74103"/>
          <a:stretch xmlns:a="http://schemas.openxmlformats.org/drawingml/2006/main"/>
        </p:blipFill>
        <p:spPr>
          <a:xfrm xmlns:a="http://schemas.openxmlformats.org/drawingml/2006/main">
            <a:off x="604520" y="1752600"/>
            <a:ext cx="6372860" cy="36766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3A58-14CE-4BD8-A107-6967F5AA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810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D478D3-79AA-44AF-A993-594E2A18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8A7DE-2BD6-43EB-8574-69DA3904A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050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E095F-C94D-4B05-B189-F35EF4C9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097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2F88DB-5DDC-406E-A73B-59C73ADD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0500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Val PR-AUC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D0091-2FDF-49A6-984D-83DA5BFD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F835-F1E8-4B93-AC5B-F242781F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336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CatBoost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E977E5-8D0F-4901-A4D8-125B492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383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41E929-CE40-42B4-A87F-30BA9DCC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3362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0.288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3501A6-0BF7-404B-9E0F-ED018B88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000B8-BC31-4ED5-B5D6-4C60EFBEC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62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Logistic stacker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6EA67-F82D-48EA-89A0-F24AC40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6670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9B36C-23B4-43AC-AF41-A6B7F3F29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6225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0.272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220DA0-13D9-4EA9-8280-06EF88E3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D2E21-7D3D-4A81-8D4F-76D0B18D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908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XGBoost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6944E4-6B7C-4424-B0C8-7B79B097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956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F8A4F7-BD6C-45FF-AA20-99E90CFF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908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0.271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B9A736-6F25-49C6-B4DE-151EEE1F4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5C7B23-7015-4830-A0EB-C5C3E6CE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LightGBM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52928-4E6D-4169-B0C8-F37F35D6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242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E00DBF-0A93-4723-B6B5-21186AD8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61950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0.261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D8D0C9-F9A9-4027-9AA5-ABAF1043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2AC872-56E0-4443-A2D5-F8F01C0E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481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Random Forest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EDE014-6D11-4892-A2B3-10E7DA82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95287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5F2605-CF58-4D2D-89CB-C75345A20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4812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0.255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DAE5C-8C00-41F5-86F6-FE8F49B4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81500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1A8E0E-C924-4BFF-9083-D1EDAC60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Neural network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6E68F8-6553-4D5A-9387-49C3610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8150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39B55-F689-4959-A993-40785D204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47675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0.182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406DC1-37D2-4D4F-8333-9EEEB03E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23812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9A6363-EC68-4DD6-A74C-947DF6B9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0537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Baseline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2822B4-502C-483B-B8A8-0973C55E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810125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082552-E7F5-445C-938F-A0704B80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05375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0.118</a:t>
            </a:r>
          </a:p>
        </p:txBody>
      </p:sp>
    </p:spTree>
    <p:extLst>
      <p:ext uri="{BB962C8B-B14F-4D97-AF65-F5344CB8AC3E}">
        <p14:creationId xmlns:p14="http://schemas.microsoft.com/office/powerpoint/2010/main" val="3820602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D2D3D-FB5D-4059-9C97-489D6903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32BDE-7613-4697-82D7-FBD130BC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Final Test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20414-F061-4D13-BFE4-9AAA454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30AC6-D95C-44DB-8737-B48E17EB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43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B03E8-26B7-4568-A75E-CEA874E2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0.2414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59A25-9283-4531-8C09-1E8A692C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PR-AUC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30D86-B424-44F7-B34B-A74C9F7C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43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70C38-EF23-47E5-8B54-6259B0CC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193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0.6827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AC890-B59B-44DE-936B-793BDC15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ROC-AUC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76FAD2-77DC-4AA6-899F-B65FBB59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809750"/>
            <a:ext cx="2343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93093-03F5-4D2B-909E-3ACDFDB8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193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36.2%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16CD0-5546-47CE-AE59-E9DD4A22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52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Recall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581FDF-F6DA-49C9-A263-79F7705C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09750"/>
            <a:ext cx="2343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2EB8F-0057-4D0B-B653-F634A49B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19300"/>
            <a:ext cx="1962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24.2%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C0AFF-D583-4AEE-B615-F66B4EC5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5270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Precision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77F28C-746A-43B2-B99C-8E773F96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4381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9E0908-AFCE-45E0-B5CD-11923A99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968BA-2D90-4338-9AB7-34C8DBBA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Metric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C0887A-F2EC-4D68-868A-AAFAE43F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766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6CF57A-71BF-4C48-A1C7-3D082294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Value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C8BF3F-5CD9-4325-8E32-503D77CE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CA605-8BB6-40C6-B187-0D242026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8CD519-F00D-428E-B671-4E4D0025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CE2C7B-076F-4A12-9229-705B346F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148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0.2898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316664-40B9-41D4-9EA7-D625F8E4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624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2E9DC-C4A7-4FA4-9549-912A7C91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Accuracy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AB5F73-B3F8-4F23-94BD-9C43DFDF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624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AF132-E0A0-4C13-82A2-40A8B004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577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0.8044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C34F2-D618-4362-9F32-F57DCC77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9FC06-9DCE-4D3F-B919-93E3E049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True positives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491B63-A201-424F-B887-8518114A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7053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E3D971-CB59-4C5D-9F87-E27FD2FE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006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592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C1EE9A-F79C-4D9C-A873-781DBD5A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482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DC52B4-EBF7-44CE-BDA2-E26A6B42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43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False positives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41DC5A-02F0-4692-B0A2-0655DAD3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48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4035EC-DF9C-4867-AB73-8307547A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435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1,858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F0AB1F-3E0D-4F64-8CDE-E205D8A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911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0071EE-78FE-4E93-9713-36568F6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False negatives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68F853-E40B-451A-8DF7-F82402A5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911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EE1654-734D-4E17-AAD6-14B0AA4A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86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1,043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087BCD-10C3-40AE-9603-7DDE5DF0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34050"/>
            <a:ext cx="2571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5EB48F-B7F1-4A3B-A608-B882B7C1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29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True negatives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4F0580-38A8-45B8-91B9-15EAF2FC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7340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E99654B-2885-4C56-B267-C2AFC779A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293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11,335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245D96-3C9C-4AB2-A983-4CAC0605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848100"/>
            <a:ext cx="4953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Majority baseline has higher accuracy but zero recall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Final model catches 592 of 1,635 readmissions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Threshold chosen from validation best F1, not from test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9A0A1A-99E3-483D-B770-3058FA6F9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5F511D-0C6F-4348-905B-C80F64A2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6093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3784DE-B546-407C-8029-0296330E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FE0D2-15DF-4019-8F89-FCD1EA82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Risk Stratification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37739-D067-42AE-9659-84767A9A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4A342-A1BC-42A7-B062-0E176300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0AEEE-F711-4FE4-9C07-B1AA3D59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604FB9-2C11-4D73-8CC7-7B360FD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5581650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84248bd5084770"/>
          <a:stretch xmlns:a="http://schemas.openxmlformats.org/drawingml/2006/main"/>
        </p:blipFill>
        <p:spPr>
          <a:xfrm xmlns:a="http://schemas.openxmlformats.org/drawingml/2006/main">
            <a:off x="610961" y="1809750"/>
            <a:ext cx="5388429" cy="3429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E5FEA9-0FDC-48BE-8896-D79B06FC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8577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8580C-A7A0-4076-B729-2975C63D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A274F-A8B8-4DF7-8AEE-9F5FE11B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Risk 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987CD7-68B9-41D0-BE96-21A11143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D431E-513F-43FC-AAB7-56EA4D76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604FD-4812-461F-9781-F06EE44B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955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A43890-917A-41B5-9DDA-D12B2C59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907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C7D33A-EAB9-4FD8-A112-BCF5E1A7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28D01-EA68-4C1E-BD55-65CFB93F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432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Top 1%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8C314B-FE90-419B-9F09-6396B37D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BC4E6-63F5-4A56-A0F9-3F041361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52.3%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9EC00-34ED-4D4A-9FA5-2B6E1937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6479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BFAEAA-DBA0-40FD-A850-60A701D1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432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4.75x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FA01A-8B0D-41FA-9342-C7386BE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04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4ECE2C-6183-4C59-BC18-9EBF691E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Top 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F139BB-C5F9-4DEB-BBE9-BC16758D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004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C62026-7D21-429B-AB3F-82E17976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33.4%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5054C8-6C63-4741-ABE2-95C8CC3D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004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A82865-40C0-48BA-AF3D-03DDD556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956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3.03x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D24647-8186-41DB-B2AA-92D73F88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7528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854663-2E93-4028-8D82-36C87547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481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Top 10%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674AB7-35DA-40A8-9EFE-D896C4B5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8DABF-2FAC-4164-A275-1349E809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48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27.8%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552196-9C49-4F5B-A86A-809AD330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528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87C4B-D00F-42B4-8A12-3EEBB060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4810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2.53x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A60EDD-3582-4E49-A37A-68875B75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053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2C40ED-DBEC-4511-BF3E-77F31936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00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Top 20%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2EAEA0-383D-4571-8724-138FBB63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62B815D-AA06-4A75-AEE7-6F8D32A1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005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22.3%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94CA5C-35AA-4F67-AF89-1D3B9A99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3053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0E28B6-8E05-4F95-88C6-15A3149B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00550"/>
            <a:ext cx="104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2.02x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A87688-6AD7-4A7C-91B8-26A61602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0673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If a hospital reviews only the top 10%, the readmission rate is about 27.8% instead of 11.0%.</a:t>
            </a:r>
          </a:p>
        </p:txBody>
      </p:sp>
    </p:spTree>
    <p:extLst>
      <p:ext uri="{BB962C8B-B14F-4D97-AF65-F5344CB8AC3E}">
        <p14:creationId xmlns:p14="http://schemas.microsoft.com/office/powerpoint/2010/main" val="5557907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6536DF-B5A8-4AFE-B0F9-4EC6454C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D9171-9603-4B87-82BB-E343330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What Worked and What Did Not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2ACA1-FB96-47BB-8AD7-B207DA8B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6C7E1-54B2-4A24-9E03-CF31F31B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6D73"/>
                </a:solidFill>
              </a:defRPr>
            </a:pPr>
            <a:r>
              <a:rPr sz="2250" b="1">
                <a:solidFill>
                  <a:srgbClr val="266D73"/>
                </a:solidFill>
              </a:rPr>
              <a:t>Worked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01A41-DD00-4103-808F-98FF41D0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4476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Patient-safe all-encounter framing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Prior patient-history features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Native CatBoost categorical handling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Validation-based threshold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9B7C14-03BA-4CB9-B1B6-DD4A3DB5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47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5C2E"/>
                </a:solidFill>
              </a:defRPr>
            </a:pPr>
            <a:r>
              <a:rPr sz="2250" b="1">
                <a:solidFill>
                  <a:srgbClr val="B85C2E"/>
                </a:solidFill>
              </a:rPr>
              <a:t>Did not beat final CatBoost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C268C-D241-4A4E-BD8D-FCF6235E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47625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Neural networks and TabNet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Heavy imbalance handling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Complex ensembles and stackers</a:t>
            </a:r>
          </a:p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• Optuna and deeper CatBoost variants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C9D2C-74C3-498D-98A6-9CB21F79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942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Main lesson: the data and feature framing mattered more than simply adding model complexity.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36C1F-D2F1-4E89-AC6E-56E35E4E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378AB-CF68-4E8C-830C-03A90E69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40322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B7C733-B50D-448E-A59B-6988EFBE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A8D4C-5B1C-4EC6-9593-0EF3A169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Why Performance Plateaus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69C7C-5A03-4AB9-B94F-090FBEF2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C23DB-84F8-46F3-AA5B-A2DA9C59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7C041-1612-4ACF-8AD9-F14CDABC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526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Imbalance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C4B2B-EDF5-4777-B36E-B404AA05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621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Only about 11% positives makes precision naturally hard.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5762E-F5FD-40B7-9D34-A8E7F40D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26241-2C50-41D5-AB33-BF7E0ABB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479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Missing clinical detail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CA0C9-D7DA-427B-9C2E-52905579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No vitals, continuous labs, medication doses, notes, or discharge plans.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B8061-3E09-4E7E-B668-D906749A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6B6F0C-F84C-4F3D-8647-A910B05B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Missing post-discharge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9D2B0-23BB-4DF5-9A1F-FFF6152C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5285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No follow-up attendance, transportation, home support, or social determinants.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E3D134-C848-4A73-91FD-09FFE77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10287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C5784-DBBC-4CC0-A40E-88AB5D0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Honest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635D32-3901-4A34-9672-04FBF028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48200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55555"/>
                </a:solidFill>
              </a:defRPr>
            </a:pPr>
            <a:r>
              <a:rPr sz="1575" b="0">
                <a:solidFill>
                  <a:srgbClr val="555555"/>
                </a:solidFill>
              </a:rPr>
              <a:t>Patient-safe split removes leakage that inflates many online results.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C51863-8D24-4D64-A8FE-C6F6326F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Likely ceiling on this dataset: around PR-AUC 0.24-0.242 for the strict &lt;30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E319D-3B94-43B9-AF82-1823FC36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FFF86-C67D-4410-9B23-E3ADDDB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081569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E7A251-AA01-4D61-B392-6799F787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D57F2-5CA4-4EF3-99CE-726076F3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Demo and Reproducibility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B17A6-FF3A-4C19-AC2C-EF8DE947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9CF93-48C1-4856-AAC7-A0841DEA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4A2ED-CD1C-4F1C-A4BA-289F4D4C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python FINAL_MODEL_PIPELINE.py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CBAE8-CBB3-4FA3-8A75-727EB618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00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7B422-E036-4339-9294-593513C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242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python FINAL_MODEL_PIPELINE.py --interactive-predict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518E3-DEC2-471A-8959-3EC6DE0C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525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Loads raw UCI CSV from archive/diabetic_data.csv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Builds the same final preprocessing and feature engineering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Trains/evaluates CatBoost and writes final_model_outputs/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Interactive mode asks for patient fields and prints risk probability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494E3-C3CB-4366-8D3C-9F3B78C5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D8A36C-9781-4603-B48D-C9B6F3F9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513035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EBED90-5E45-4677-92DC-6DA8FD63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AI1215 ML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407A95-AE92-4488-9D82-E0DEC7285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9ECB1-E43D-460E-8A71-EE09053E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049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6DE876-046B-44A3-9F2E-227D6366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D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D9DE97-9C87-46C9-8A17-64DC368A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526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2.19x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7EA8A-B00E-4BEA-B07D-B5A2A87A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PR-AUC over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2D071-8AC1-4B23-AE3F-A4AD29C2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4310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2A29EE-8E65-4944-887B-10DF4BD5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526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0.2414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36738-0802-430B-A81D-3BEFA4D1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final PR-AUC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642C7-7222-4E14-929A-A8CE276C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27622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C00EE3-94C1-4E84-B9B3-485B7D7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526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27.8%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22788F-B3FA-4BA0-8E2D-3342B6E5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860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top 10% precision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04EBA0-654D-4332-ADF1-811AC40D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814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Built a reproducible end-to-end ML pipeline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Compared multiple model families and baselines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Matched the closest paper's reported PR-AUC level</a:t>
            </a:r>
          </a:p>
          <a:p xmlns:a="http://schemas.openxmlformats.org/drawingml/2006/main">
            <a:pPr algn="l">
              <a:defRPr sz="1875" b="0">
                <a:solidFill>
                  <a:srgbClr val="111111"/>
                </a:solidFill>
              </a:defRPr>
            </a:pPr>
            <a:r>
              <a:rPr sz="1875" b="0">
                <a:solidFill>
                  <a:srgbClr val="111111"/>
                </a:solidFill>
              </a:rPr>
              <a:t>• Best future gains need richer clinical and post-discharge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0213E-3285-418B-8205-C8CC07EC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57850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</a:defRPr>
            </a:pPr>
            <a:r>
              <a:rPr sz="2700" b="1">
                <a:solidFill>
                  <a:srgbClr val="111111"/>
                </a:solidFill>
              </a:rPr>
              <a:t>Thank you. Questions?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E1B7AB-B2F7-4943-8867-6FF69045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24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Readmission Risk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0DEED7-F040-4A8A-A487-1DE602601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10434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2026-06-26T11:48:56.0790000Z</dcterms:created>
  <dcterms:modified xsi:type="dcterms:W3CDTF">2026-06-26T11:48:56.0790000Z</dcterms:modified>
</coreProperties>
</file>